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5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342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76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231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173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336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785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07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82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89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675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905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B3956-E26E-FFFE-9761-0DE1372DF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37626"/>
          </a:xfrm>
        </p:spPr>
        <p:txBody>
          <a:bodyPr>
            <a:normAutofit/>
          </a:bodyPr>
          <a:lstStyle/>
          <a:p>
            <a:pPr algn="ctr"/>
            <a:b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600" b="1" dirty="0">
                <a:latin typeface="Calibri" panose="020B0604020202020204" pitchFamily="34" charset="0"/>
                <a:cs typeface="Arial" panose="020B0604020202020204" pitchFamily="34" charset="0"/>
              </a:rPr>
              <a:t>Online Retail Sales Analysis using SQL</a:t>
            </a:r>
            <a:b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600" dirty="0" b="1">
                <a:latin typeface="Calibri" panose="020B0604020202020204" pitchFamily="34" charset="0"/>
                <a:cs typeface="Arial" panose="020B0604020202020204" pitchFamily="34" charset="0"/>
              </a:rPr>
              <a:t>Business Insights from Transactional Data (2010-2011)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8F8CDD-0137-BC7E-0C2B-D86D33866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06748"/>
            <a:ext cx="10058400" cy="1191872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– MEDHA TYAGI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- MYSQL</a:t>
            </a:r>
            <a:endParaRPr lang="en-IN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286C73-D591-CE35-FFD5-5F19B08DD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005" y="4378923"/>
            <a:ext cx="2919470" cy="18184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A0B3FE-5EA2-F0B5-F474-EBD0CF3E8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11" y="5137582"/>
            <a:ext cx="1264076" cy="11424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2819A6-237B-CED7-CEC8-3625CDFBCB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61"/>
            <a:ext cx="2955294" cy="84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73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E644D-32C2-F947-F6EA-C121A1893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dirty="0" b="0">
                <a:latin typeface="Calibri" panose="020B0604020202020204" pitchFamily="34" charset="0"/>
                <a:cs typeface="Arial" panose="020B0604020202020204" pitchFamily="34" charset="0"/>
              </a:rPr>
              <a:t>   1. Display all top 20 stock codes by most recent Invoice Date.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0F222932-1596-5182-BA67-FD4CD0D3BC9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B33C5E-4679-4B0C-4AC9-77B7882E87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 b="0"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4B7E3B-9B25-0791-5F5B-935C2BE78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557471"/>
            <a:ext cx="5781438" cy="30250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258C7F-77CC-9DE2-6797-B20D4BE3CB6E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 b="0">
                <a:latin typeface="Calibri"/>
              </a:rPr>
              <a:t>Recent invoices are concentrated in a small set of stock codes indicating recent demand activity.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CD46D6-2164-196D-2CE4-732DD8029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6007" y="2444163"/>
            <a:ext cx="3383246" cy="30250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2132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2A6C8-044C-83CC-5009-CA3F0BB7F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D8D88-A7A9-87E2-3309-99485EB82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dirty="0" b="0">
                <a:latin typeface="Calibri" panose="020B0604020202020204" pitchFamily="34" charset="0"/>
                <a:cs typeface="Arial" panose="020B0604020202020204" pitchFamily="34" charset="0"/>
              </a:rPr>
              <a:t>     2. Show total revenue per customer sorted by highest revenue 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799AFCCF-C290-A71F-2D60-4F1D7325D0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942419-286D-D2C1-BDD1-E88C000E044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 b="0"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FFC660-BED8-94AC-EDE7-DD62A6C90180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 b="0">
                <a:latin typeface="Calibri"/>
              </a:rPr>
              <a:t>Each row shows a customer ID with their total revenue, sorted from the highest-revenue customer to the lowest.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8BBD59-75CC-BF32-4946-4D78693BE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405625"/>
            <a:ext cx="5662669" cy="3190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27C105-89BE-D052-1363-50D592EB3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704" y="2405624"/>
            <a:ext cx="3051014" cy="3190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810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4A861-E22C-244C-4483-D10A507F3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5926C-4E25-620A-0D12-4EA5EB56F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dirty="0" b="0">
                <a:latin typeface="Calibri" panose="020B0604020202020204" pitchFamily="34" charset="0"/>
                <a:cs typeface="Arial" panose="020B0604020202020204" pitchFamily="34" charset="0"/>
              </a:rPr>
              <a:t>     3. Retrieve distinct CustomerID and Country for invoices between 2010-01-01 and 2011-12-31 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C5901D17-2E0C-DC06-E01E-79F3217845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C56BDA-D385-B21A-F961-6B50BA0471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 b="0"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3FD940-2FF7-8F53-B01C-86418C628F01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 b="0">
                <a:latin typeface="Calibri"/>
              </a:rPr>
              <a:t>Each row shows a distinct customer ID and country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F60C28-4F1B-E759-245A-335658F93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333299"/>
            <a:ext cx="5545731" cy="30482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FEAAB3-388D-BD04-F988-8440361ED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5453" y="2333299"/>
            <a:ext cx="3051014" cy="3190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7767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B61B7-4982-6E3C-95ED-30117ABF7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47804-F933-9162-0CBC-C4BC70E3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dirty="0" b="0">
                <a:latin typeface="Calibri" panose="020B0604020202020204" pitchFamily="34" charset="0"/>
                <a:cs typeface="Arial" panose="020B0604020202020204" pitchFamily="34" charset="0"/>
              </a:rPr>
              <a:t>     4. Show country whose total revenue is more than 5000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7DDCB913-E924-4D78-80B5-E94F356468E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72D3D2-E1B2-6258-96C8-5F5AD97268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 b="0"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F0BB39-E406-29D4-AB44-A5F54A06683B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 b="0">
                <a:latin typeface="Calibri"/>
              </a:rPr>
              <a:t>Each row shows countries whose revenue &gt; 5000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4841DC-173C-DAE9-7E45-FD97FBBDB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392308"/>
            <a:ext cx="6140640" cy="3190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37DD61-FBDC-40CB-56F8-E30C95AA9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6177" y="2262324"/>
            <a:ext cx="3420403" cy="3190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0380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31558-9F9F-85D5-AFA3-993490F00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8F40-49B3-3C89-9FC0-9E07F2A93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dirty="0" b="0">
                <a:latin typeface="Calibri" panose="020B0604020202020204" pitchFamily="34" charset="0"/>
                <a:cs typeface="Arial" panose="020B0604020202020204" pitchFamily="34" charset="0"/>
              </a:rPr>
              <a:t>     5. Show each customer's id, their total revenue and assign a customer category based on total revenue: “High, Medium, Low Value”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D5B99216-D8A7-F095-4A80-7579F3D319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6FF5F4-9D1B-B68C-F281-1D47312F45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 b="0"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CDD9A0-04C1-0F2B-52EF-CDD52DD958DE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 b="0">
                <a:latin typeface="Calibri"/>
              </a:rPr>
              <a:t>Each row shows a customer ID, their total revenue, and the value category they belong to (High, Medium, or Low).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E3FEDB-F70E-30BB-2EDC-0EABB76FD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92" y="2392308"/>
            <a:ext cx="6541407" cy="3190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39F9DA-2F1C-0A9D-C86B-EC525A6F6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9605" y="2392308"/>
            <a:ext cx="4054207" cy="22215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7548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E4102-52E1-7A43-3236-1AEF80DA1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14D0A-25E8-4668-B470-A6BD9837D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dirty="0" b="0">
                <a:latin typeface="Calibri" panose="020B0604020202020204" pitchFamily="34" charset="0"/>
                <a:cs typeface="Arial" panose="020B0604020202020204" pitchFamily="34" charset="0"/>
              </a:rPr>
              <a:t>     6. List distinct stock codes and their total quantities sold ranked from highest to lowest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AA676E72-B5CB-0B3B-6F98-AFFE1E64A6E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139266-DF44-5926-45EB-5CB0F4E263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 b="0"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1B77A3-A3A4-CB78-9A56-DD66C27E0881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 b="0">
                <a:latin typeface="Calibri"/>
              </a:rPr>
              <a:t>Each row shows a stock code with the total quantity sold, sorted from the highest-selling product to the lowest.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80A081-B32C-9F60-F3C5-1F951E068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485815"/>
            <a:ext cx="6663012" cy="28583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319F7B-C9F6-84C9-EB26-653AF104DF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7814" y="2485815"/>
            <a:ext cx="2820461" cy="29706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6819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5D81E-72F1-F566-60C8-186F3252C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75A93-8ACA-D918-7871-E0C6D66CC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dirty="0" b="0">
                <a:latin typeface="Calibri" panose="020B0604020202020204" pitchFamily="34" charset="0"/>
                <a:cs typeface="Arial" panose="020B0604020202020204" pitchFamily="34" charset="0"/>
              </a:rPr>
              <a:t>    7. For each country, identify the top 5 products with the highest unit prices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5F04D5CF-E95A-A4FB-773A-126006EAC70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653BA7-6CC3-44BF-EAAC-F347DC26A1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 b="0"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FF74E9-FBE8-2AE0-416B-25478E15A9C9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 b="0">
                <a:latin typeface="Calibri"/>
              </a:rPr>
              <a:t>The result shows, for each country, the five products that have the highest unit prices, ranked within each country.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D03A13-1C48-6B4E-29E5-866FED864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356338"/>
            <a:ext cx="6115362" cy="30021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D4D753-28CA-E95E-1C0B-C2A3B882F5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6992" y="2356338"/>
            <a:ext cx="3778223" cy="30021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3883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99D89-BF28-5835-1F89-38F1DB18B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ABB70-7A6C-2291-E536-9797548B9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dirty="0" b="0">
                <a:latin typeface="Calibri" panose="020B0604020202020204" pitchFamily="34" charset="0"/>
                <a:cs typeface="Arial" panose="020B0604020202020204" pitchFamily="34" charset="0"/>
              </a:rPr>
              <a:t>     8. Divide customer id into four revenue buckets per country based on total revenue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E0C947DF-02ED-3A7D-7BF8-1760DE5CE81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CB3010-E4D5-9CD9-506A-3B2F21718F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 b="0"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4C1DDD-9FD7-BC16-E1DE-A90851C61441}"/>
              </a:ext>
            </a:extLst>
          </p:cNvPr>
          <p:cNvSpPr txBox="1"/>
          <p:nvPr/>
        </p:nvSpPr>
        <p:spPr>
          <a:xfrm>
            <a:off x="436482" y="5869095"/>
            <a:ext cx="1092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 b="0">
                <a:latin typeface="Calibri"/>
              </a:rPr>
              <a:t>Each row shows a customer and country, their total revenue, and the revenue bucket they fall into within that  country.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7416FD-BA65-69FB-D1BD-1590712B6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530778"/>
            <a:ext cx="5703872" cy="26937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7919DB-AE21-5BA0-79DA-3D401A5115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502" y="2381931"/>
            <a:ext cx="3700178" cy="28425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5910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A848C-C9E6-282A-C267-BA5B2726A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6EC11-394F-7FE9-3509-CD7566B41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dirty="0" b="0">
                <a:latin typeface="Calibri" panose="020B0604020202020204" pitchFamily="34" charset="0"/>
                <a:cs typeface="Arial" panose="020B0604020202020204" pitchFamily="34" charset="0"/>
              </a:rPr>
              <a:t>     9. Identify stock codes whose total revenue exceeds the average revenue across all stock codes.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B1396951-1D29-F215-04FE-760EA9D55A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4FE8A8-5225-90E1-1915-5CADC43766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 b="0"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7CEC5-94A6-ADDA-866B-A275E0F2AE14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 b="0">
                <a:latin typeface="Calibri"/>
              </a:rPr>
              <a:t>The output lists stock codes whose total revenue is higher than the overall average stock code revenue.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513BE2-385E-275C-9A96-683E98B91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071" y="2435174"/>
            <a:ext cx="5560847" cy="28821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FB45D8-0236-8973-3CCB-58A2132D30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7754" y="2435173"/>
            <a:ext cx="3390727" cy="28821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8178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96622-965F-76AA-810C-9EA300F51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8E7F4-B5E3-9CD9-9948-9E2C76DDF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dirty="0" b="0">
                <a:latin typeface="Calibri" panose="020B0604020202020204" pitchFamily="34" charset="0"/>
                <a:cs typeface="Arial" panose="020B0604020202020204" pitchFamily="34" charset="0"/>
              </a:rPr>
              <a:t>     10. Calculate the total revenue for each quarter in the year 2010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ED71600F-0376-60CA-9472-4185A6A9C55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B61996-7B55-54B7-608A-E2E236A33D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 b="0"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391271-4A00-0528-3627-49137791F2A6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 b="0">
                <a:latin typeface="Calibri"/>
              </a:rPr>
              <a:t>The output shows total revenue for each quarter of 2010, with one row per quarter.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6FC3C7-03B8-EBBA-0F82-B493918E8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596664"/>
            <a:ext cx="5740789" cy="27206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6F07E9-A074-1535-0CAD-35424B413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9208" y="2596664"/>
            <a:ext cx="3488082" cy="27206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7325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A80D3-8703-1198-057B-A07AC2272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F2494-A7EE-23AE-6251-6C9A096FE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dirty="0" b="0">
                <a:latin typeface="Calibri" panose="020B0604020202020204" pitchFamily="34" charset="0"/>
                <a:cs typeface="Arial" panose="020B0604020202020204" pitchFamily="34" charset="0"/>
              </a:rPr>
              <a:t>     11. For each country and month, identify the top-selling stock code based on total quantity sold.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A503CFFA-A538-0E0E-F816-6E33DADF8C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CE5C52-6922-19E5-9D2A-72980FBD2A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 b="0"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D33FC2-33A1-58FB-512B-C52FDEE6F856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 b="0">
                <a:latin typeface="Calibri"/>
              </a:rPr>
              <a:t>For every country and month, the result shows the stock code with the highest total quantity sold.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E84A4E-8C33-1CFB-AAD4-DF12E629A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646629"/>
            <a:ext cx="6178868" cy="27206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7E7F8F-5263-BFBB-372B-ED5460D3A0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2581" y="2646629"/>
            <a:ext cx="3835597" cy="27206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9770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06637-5320-A280-B179-0369C14C1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4260-6CB3-82DC-1F32-80A9AE174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dirty="0" b="0">
                <a:latin typeface="Calibri" panose="020B0604020202020204" pitchFamily="34" charset="0"/>
                <a:cs typeface="Arial" panose="020B0604020202020204" pitchFamily="34" charset="0"/>
              </a:rPr>
              <a:t>     12. Identify the customer who purchased the product with the highest unit price and the country of purchase.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F070E55A-38A3-4F48-0D76-3635E5C4576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3046E9-266A-9518-EAD6-E73291614A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 b="0"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C4FE8B-DB13-B44D-DCA5-DF53AF1349B8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 b="0">
                <a:latin typeface="Calibri"/>
              </a:rPr>
              <a:t>The result shows the customer ID and country associated with the highest-priced product purchase.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9C4B5E-5353-BFC3-6EA6-55F9DA5E8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764528"/>
            <a:ext cx="6423835" cy="25527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579701-D86F-C453-72E3-F6D686EFDC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325" y="3114260"/>
            <a:ext cx="3220377" cy="1072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459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4D27E-672E-1AFA-0851-2CFB70094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DE05C-CEC0-2B78-9EBC-AA911F9A3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dirty="0" b="0">
                <a:latin typeface="Calibri" panose="020B0604020202020204" pitchFamily="34" charset="0"/>
                <a:cs typeface="Arial" panose="020B0604020202020204" pitchFamily="34" charset="0"/>
              </a:rPr>
              <a:t>     13. Create a CTE to filter stock codes belonging to countries whose names start with the letter ‘B’.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9C455122-650E-AA91-64FB-CA7F3B99A26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316F68-FFB2-BE23-6834-81A4FDCE54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 b="0"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AE105A-4352-849F-592F-57E200643BC1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 b="0">
                <a:latin typeface="Calibri"/>
              </a:rPr>
              <a:t>The output lists stock codes (and related rows) from countries whose names begin with the letter ‘B’.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069890-72BF-4FD7-7A1D-FDDD67C81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654917"/>
            <a:ext cx="5685704" cy="24657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D31909-7A91-18D2-EF94-401758D8C8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853" y="2583965"/>
            <a:ext cx="3270059" cy="25366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2736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3F63B-69DF-8EF1-3C64-E86B7A2CD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58806-2882-1EEB-DCBD-EB5FAAE3D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dirty="0" b="0">
                <a:latin typeface="Calibri" panose="020B0604020202020204" pitchFamily="34" charset="0"/>
                <a:cs typeface="Arial" panose="020B0604020202020204" pitchFamily="34" charset="0"/>
              </a:rPr>
              <a:t>     14. For 2011, display each stock code with its total revenue and classify it into revenue categories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 b="0">
                <a:latin typeface="Calibri" panose="020B0604020202020204" pitchFamily="34" charset="0"/>
                <a:cs typeface="Arial" panose="020B0604020202020204" pitchFamily="34" charset="0"/>
              </a:rPr>
              <a:t>(Superior, Medium, Poor).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BDFA02B2-4E40-2D64-27A4-7BE4A73784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908EBF-AD5F-21D6-028E-C22EB10219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 b="0"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3D9D2A-2864-36C9-93B1-764AD116A714}"/>
              </a:ext>
            </a:extLst>
          </p:cNvPr>
          <p:cNvSpPr txBox="1"/>
          <p:nvPr/>
        </p:nvSpPr>
        <p:spPr>
          <a:xfrm>
            <a:off x="436482" y="5869095"/>
            <a:ext cx="1092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 b="0">
                <a:latin typeface="Calibri"/>
              </a:rPr>
              <a:t>Each row shows a stock code from 2011, its total revenue, and the corresponding revenue category based on defined thresholds.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7A04BD-C20D-582E-B0CD-70699F3D8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596664"/>
            <a:ext cx="5674688" cy="2877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2DA672-FD0C-FBA9-F98D-C640B6417E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491" y="2544334"/>
            <a:ext cx="3683189" cy="30191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821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0F092-C82C-9EA6-9627-8D1E1791F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42967-6D9B-EDD4-B464-E6119BDFF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dirty="0" b="0">
                <a:latin typeface="Calibri" panose="020B0604020202020204" pitchFamily="34" charset="0"/>
                <a:cs typeface="Arial" panose="020B0604020202020204" pitchFamily="34" charset="0"/>
              </a:rPr>
              <a:t>     15. </a:t>
            </a:r>
            <a:r>
              <a:rPr lang="en-US" sz="1800" dirty="0" b="0">
                <a:latin typeface="Calibri"/>
              </a:rPr>
              <a:t>Create a CTE to identify countries with more than three distinct customers.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C694C68A-7D9D-0B9B-6E9C-18F46CD5A2A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B142A5-59FB-E3B7-F846-780FC2392C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 b="0"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D6EE47-FF33-C10C-016B-40FCF371BCBF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 b="0">
                <a:latin typeface="Calibri"/>
              </a:rPr>
              <a:t>The result lists countries that have more than three unique customer IDs along with their customer counts.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DA8793-0EB5-AF39-4C4D-CC3FE2B77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596664"/>
            <a:ext cx="5663671" cy="2877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7B14B6-C88F-902B-2775-ADEDEACF94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871" y="2596664"/>
            <a:ext cx="3363809" cy="2877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1162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575C01-62A2-6156-C4F8-F10E545D3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dirty="0" b="0">
                <a:latin typeface="Calibri" panose="020B0604020202020204" pitchFamily="34" charset="0"/>
                <a:cs typeface="Arial" panose="020B0604020202020204" pitchFamily="34" charset="0"/>
              </a:rPr>
              <a:t>Conclusion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31C248-71AC-D67C-1DA3-B8380942E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366" y="2049138"/>
            <a:ext cx="10263314" cy="381995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 b="0">
                <a:latin typeface="Calibri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z="1800" b="0">
                <a:latin typeface="Calibri" panose="020B0604020202020204" pitchFamily="34" charset="0"/>
                <a:cs typeface="Arial" panose="020B0604020202020204" pitchFamily="34" charset="0"/>
              </a:rPr>
              <a:t>Performed-to-end analysis on an Online Retail dataset, starting with data cleaning and validation.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z="1800" b="0">
                <a:latin typeface="Calibri" panose="020B0604020202020204" pitchFamily="34" charset="0"/>
                <a:cs typeface="Arial" panose="020B0604020202020204" pitchFamily="34" charset="0"/>
              </a:rPr>
              <a:t> Designed and solved 15 business-oriented SQL questions covering revenue analysis, customer segmentation, product performance, and time-based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z="1800" b="0">
                <a:latin typeface="Calibri" panose="020B0604020202020204" pitchFamily="34" charset="0"/>
                <a:cs typeface="Arial" panose="020B0604020202020204" pitchFamily="34" charset="0"/>
              </a:rPr>
              <a:t> Applied advanced SQL concepts such as aggregations, CASE statements, window functions, CTEs, and date functions.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z="1800" b="0">
                <a:latin typeface="Calibri" panose="020B0604020202020204" pitchFamily="34" charset="0"/>
                <a:cs typeface="Arial" panose="020B0604020202020204" pitchFamily="34" charset="0"/>
              </a:rPr>
              <a:t> Derived meaningful insights that can support business decision-making and reporting.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z="1800" b="0">
                <a:latin typeface="Calibri" panose="020B0604020202020204" pitchFamily="34" charset="0"/>
                <a:cs typeface="Arial" panose="020B0604020202020204" pitchFamily="34" charset="0"/>
              </a:rPr>
              <a:t> Strengthened both technical SQL skills and analytical thinking through real-world problem solving.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791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9828-8F85-2EBC-AE6D-22AB4D9AA2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800" dirty="0" b="0">
                <a:latin typeface="Calibri" panose="020B0604020202020204" pitchFamily="34" charset="0"/>
                <a:cs typeface="Arial" panose="020B0604020202020204" pitchFamily="34" charset="0"/>
              </a:rPr>
              <a:t>THANK YOU 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BEF43-B211-3EFE-41E1-BCDBA2D4EF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4654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151</TotalTime>
  <Words>705</Words>
  <Application>Microsoft Office PowerPoint</Application>
  <PresentationFormat>Widescreen</PresentationFormat>
  <Paragraphs>56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Segoe UI</vt:lpstr>
      <vt:lpstr>Retrospect</vt:lpstr>
      <vt:lpstr> Online Retail Sales Analysis using SQL Business Insights from Transactional Data (2010-2011)</vt:lpstr>
      <vt:lpstr>   1. Display all top 20 stock codes by most recent Invoice Date.</vt:lpstr>
      <vt:lpstr>     2. Show total revenue per customer sorted by highest revenue </vt:lpstr>
      <vt:lpstr>     3. Retrieve distinct CustomerID and Country for invoices between 2010-01-01 and 2011-12-31 </vt:lpstr>
      <vt:lpstr>     4. Show country whose total revenue is more than 5000</vt:lpstr>
      <vt:lpstr>     5. Show each customer's id, their total revenue and assign a customer category based on total revenue: “High, Medium, Low Value”</vt:lpstr>
      <vt:lpstr>     6. List distinct stock codes and their total quantities sold ranked from highest to lowest</vt:lpstr>
      <vt:lpstr>    7. For each country, identify the top 5 products with the highest unit prices</vt:lpstr>
      <vt:lpstr>     8. Divide customer id into four revenue buckets per country based on total revenue</vt:lpstr>
      <vt:lpstr>     9. Identify stock codes whose total revenue exceeds the average revenue across all stock codes.</vt:lpstr>
      <vt:lpstr>     10. Calculate the total revenue for each quarter in the year 2010</vt:lpstr>
      <vt:lpstr>     11. For each country and month, identify the top-selling stock code based on total quantity sold.</vt:lpstr>
      <vt:lpstr>     12. Identify the customer who purchased the product with the highest unit price and the country of purchase.</vt:lpstr>
      <vt:lpstr>     13. Create a CTE to filter stock codes belonging to countries whose names start with the letter ‘B’.</vt:lpstr>
      <vt:lpstr>     14. For 2011, display each stock code with its total revenue and classify it into revenue categories  (Superior, Medium, Poor).</vt:lpstr>
      <vt:lpstr>     15. Create a CTE to identify countries with more than three distinct customers.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Medha Tyagi</dc:creator>
  <cp:lastModifiedBy>Medha Tyagi</cp:lastModifiedBy>
  <cp:revision>7</cp:revision>
  <dcterms:created xsi:type="dcterms:W3CDTF">2026-01-16T08:49:37Z</dcterms:created>
  <dcterms:modified xsi:type="dcterms:W3CDTF">2026-02-12T06:21:36Z</dcterms:modified>
</cp:coreProperties>
</file>